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5" r:id="rId3"/>
    <p:sldId id="276" r:id="rId4"/>
    <p:sldId id="277" r:id="rId5"/>
    <p:sldId id="278" r:id="rId6"/>
    <p:sldId id="279" r:id="rId7"/>
    <p:sldId id="280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20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0199"/>
            <a:ext cx="8229600" cy="609601"/>
          </a:xfrm>
        </p:spPr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SIDDHARTH INSTITUTE OF ENGINEERING &amp; TECHNOLOGY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 (AUTONOMOUS)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(Approved by AICTE, New Delhi &amp; Affiliated to JNTUA,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Ananthapuramu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)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(Accredited by NBA for Civil, EEE, Mech., ECE &amp; CSE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Accredited by NAAC with ‘A+’ Grade)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Puttur -517583,Tirupathi District, A.P. (India)</a:t>
            </a:r>
            <a:br>
              <a:rPr lang="en-US" sz="1800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DEPARTMENT OF COMPUTER SCIENCE AND ENGINEERING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CSE (ARTIFICIAL INTELLIGENCE AND MACHINE LEARNING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Academic Year 2025-26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</a:br>
            <a:br>
              <a:rPr lang="en-US" sz="1800" b="1" dirty="0"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</a:b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iddharth Institute of Engineering &amp; Technology - [SIETK], Puttur -  Admissions, Contact, Website, Facilities 2021-202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915" y="528235"/>
            <a:ext cx="990599" cy="866775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457200" y="3435052"/>
            <a:ext cx="228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Batch Details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639839"/>
            <a:ext cx="30203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Project First Review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99374" y="2969176"/>
            <a:ext cx="84205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Title of Project </a:t>
            </a:r>
            <a:endParaRPr lang="en-US" sz="2000" dirty="0"/>
          </a:p>
        </p:txBody>
      </p:sp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9726D40B-79FA-5C9C-B1C6-5162A7D08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804903"/>
              </p:ext>
            </p:extLst>
          </p:nvPr>
        </p:nvGraphicFramePr>
        <p:xfrm>
          <a:off x="556747" y="3804384"/>
          <a:ext cx="8305801" cy="211529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49693">
                  <a:extLst>
                    <a:ext uri="{9D8B030D-6E8A-4147-A177-3AD203B41FA5}">
                      <a16:colId xmlns:a16="http://schemas.microsoft.com/office/drawing/2014/main" val="3454361256"/>
                    </a:ext>
                  </a:extLst>
                </a:gridCol>
                <a:gridCol w="2284095">
                  <a:extLst>
                    <a:ext uri="{9D8B030D-6E8A-4147-A177-3AD203B41FA5}">
                      <a16:colId xmlns:a16="http://schemas.microsoft.com/office/drawing/2014/main" val="115167568"/>
                    </a:ext>
                  </a:extLst>
                </a:gridCol>
                <a:gridCol w="2081212">
                  <a:extLst>
                    <a:ext uri="{9D8B030D-6E8A-4147-A177-3AD203B41FA5}">
                      <a16:colId xmlns:a16="http://schemas.microsoft.com/office/drawing/2014/main" val="2541411041"/>
                    </a:ext>
                  </a:extLst>
                </a:gridCol>
                <a:gridCol w="2590801">
                  <a:extLst>
                    <a:ext uri="{9D8B030D-6E8A-4147-A177-3AD203B41FA5}">
                      <a16:colId xmlns:a16="http://schemas.microsoft.com/office/drawing/2014/main" val="247963892"/>
                    </a:ext>
                  </a:extLst>
                </a:gridCol>
              </a:tblGrid>
              <a:tr h="38265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S.NO: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GUIDE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435710"/>
                  </a:ext>
                </a:extLst>
              </a:tr>
              <a:tr h="43316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826067"/>
                  </a:ext>
                </a:extLst>
              </a:tr>
              <a:tr h="43316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35473"/>
                  </a:ext>
                </a:extLst>
              </a:tr>
              <a:tr h="43316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131700"/>
                  </a:ext>
                </a:extLst>
              </a:tr>
              <a:tr h="43316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nt">
            <a:extLst>
              <a:ext uri="{FF2B5EF4-FFF2-40B4-BE49-F238E27FC236}">
                <a16:creationId xmlns:a16="http://schemas.microsoft.com/office/drawing/2014/main" id="{3B1FBD85-8991-2A31-6956-1A07186D5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5025" y="-2"/>
            <a:ext cx="808975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52BC7B-4F7B-6E34-71DB-D06EFE32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17" y="0"/>
            <a:ext cx="8567928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F97F52-C578-5AB2-B699-50008FCBA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260" y="0"/>
            <a:ext cx="8570271" cy="2284810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B9A478-9CC6-A4AB-9E17-E1315121F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429490"/>
            <a:ext cx="7192323" cy="1432273"/>
          </a:xfrm>
        </p:spPr>
        <p:txBody>
          <a:bodyPr>
            <a:normAutofit/>
          </a:bodyPr>
          <a:lstStyle/>
          <a:p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59EF3-AC40-F753-8E9F-CC3B9B326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880155"/>
            <a:ext cx="7192761" cy="338249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To develop an automated system that predicts the risk level of heart diseases using patient medical report data.</a:t>
            </a:r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To extract key clinical parameters (age, cholesterol, ECG results, blood pressure, etc.) from uploaded PDF reports using OCR/AI-based text extraction.</a:t>
            </a:r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To implement a dual-stage stacked machine learning model to generate accurate prediction scores.</a:t>
            </a:r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To generate an easy-to-understand medical summary explaining which health factors are most risky and the recommended preventive steps.</a:t>
            </a:r>
          </a:p>
          <a:p>
            <a:pPr>
              <a:lnSpc>
                <a:spcPct val="90000"/>
              </a:lnSpc>
            </a:pPr>
            <a:endParaRPr lang="en-US" sz="1600"/>
          </a:p>
          <a:p>
            <a:pPr>
              <a:lnSpc>
                <a:spcPct val="90000"/>
              </a:lnSpc>
            </a:pPr>
            <a:r>
              <a:rPr lang="en-US" sz="1600"/>
              <a:t>To support medical decision-making with AI-based insights.</a:t>
            </a:r>
          </a:p>
          <a:p>
            <a:pPr>
              <a:lnSpc>
                <a:spcPct val="90000"/>
              </a:lnSpc>
            </a:pP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127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nt">
            <a:extLst>
              <a:ext uri="{FF2B5EF4-FFF2-40B4-BE49-F238E27FC236}">
                <a16:creationId xmlns:a16="http://schemas.microsoft.com/office/drawing/2014/main" id="{3B1FBD85-8991-2A31-6956-1A07186D5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5025" y="-2"/>
            <a:ext cx="808975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252BC7B-4F7B-6E34-71DB-D06EFE32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917" y="0"/>
            <a:ext cx="8567928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F97F52-C578-5AB2-B699-50008FCBA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260" y="0"/>
            <a:ext cx="8570271" cy="2284810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164145-1E61-E620-CBC7-F7948E7CB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429490"/>
            <a:ext cx="7192323" cy="1432273"/>
          </a:xfrm>
        </p:spPr>
        <p:txBody>
          <a:bodyPr>
            <a:normAutofit/>
          </a:bodyPr>
          <a:lstStyle/>
          <a:p>
            <a:r>
              <a:rPr lang="en-US" sz="420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34A98-D1BC-E73A-797D-3ECF82492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880155"/>
            <a:ext cx="7192761" cy="3382498"/>
          </a:xfrm>
        </p:spPr>
        <p:txBody>
          <a:bodyPr anchor="ctr">
            <a:norm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diseases are a major global health issue, requiring early identification to reduce mortality. Medical reports often contain essential health parameters, but manual interpretation is time-consuming and prone to human error.</a:t>
            </a:r>
            <a:b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an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risk prediction model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that extracts medical features from PDF reports through OCR, preprocesses them, and feeds them into a </a:t>
            </a: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dual-stage stacked machine learning framework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consisting of models like Random Forest, Logistic Regression, SVM, and Gradient Boosting.</a:t>
            </a:r>
            <a:b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final prediction score is generated by averaging or stacking outputs from all models. Additionally, a large language model (LLM) such as Gemini interprets the prediction results and provides a clear, personalized health report indicating risk factors (e.g., high cholesterol, abnormal ECG).</a:t>
            </a:r>
            <a:b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enhances accuracy, reduces manual effort, and provides actionable insights for early heart disease prevention.</a:t>
            </a: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12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nt">
            <a:extLst>
              <a:ext uri="{FF2B5EF4-FFF2-40B4-BE49-F238E27FC236}">
                <a16:creationId xmlns:a16="http://schemas.microsoft.com/office/drawing/2014/main" id="{FB62F605-0D29-07F8-F642-DD2626C78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37" y="0"/>
            <a:ext cx="9144837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C22F3F7-C4F6-C120-9D45-79509746A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37" y="0"/>
            <a:ext cx="8563147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5E2E6-6D61-853E-5B07-9A47A0F91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14" y="762001"/>
            <a:ext cx="7192323" cy="1699942"/>
          </a:xfrm>
        </p:spPr>
        <p:txBody>
          <a:bodyPr>
            <a:normAutofit/>
          </a:bodyPr>
          <a:lstStyle/>
          <a:p>
            <a:r>
              <a:rPr lang="en-US" sz="350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674727A-39A9-6B09-5C95-9E360F25D8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9214" y="2470243"/>
            <a:ext cx="7192761" cy="37698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 Upload Module</a:t>
            </a:r>
            <a:endParaRPr kumimoji="0" lang="en-US" altLang="en-US" sz="9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uploads medical test report in PDF format.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OCR &amp; Text Extraction Module</a:t>
            </a:r>
            <a:endParaRPr kumimoji="0" lang="en-US" altLang="en-US" sz="9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Extracts key numerical values (Age, BP, Cholesterol, ECG values, FBS, Thalach, etc.).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Tesseract OCR / LayoutLM / Vision-Text models.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Feature Engineering</a:t>
            </a:r>
            <a:endParaRPr kumimoji="0" lang="en-US" altLang="en-US" sz="9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text, converting to structured format.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values, normalization, and mapping to standard medical features.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Dual-Stage Stacked Machine Learning Module</a:t>
            </a:r>
            <a:endParaRPr kumimoji="0" lang="en-US" altLang="en-US" sz="9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Stage 1: Base Models → Logistic Regression, Random Forest, Decision Tree, SVM, XGBoost.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Stage 2: Meta Model → Combines predictions (mean/stacked regression).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&amp; Risk Score Generator</a:t>
            </a:r>
            <a:endParaRPr kumimoji="0" lang="en-US" altLang="en-US" sz="9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Produces a numerical risk score (0–1 or Low/Medium/High).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LLM-Based Medical Summary Module</a:t>
            </a:r>
            <a:endParaRPr kumimoji="0" lang="en-US" altLang="en-US" sz="9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Gemini generates an understandable medical analysis.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Highlights risky parameters and suggests remedies.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 / Output Report Module</a:t>
            </a:r>
            <a:endParaRPr kumimoji="0" lang="en-US" altLang="en-US" sz="9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prediction score and AI-generated health explanation.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9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21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nt">
            <a:extLst>
              <a:ext uri="{FF2B5EF4-FFF2-40B4-BE49-F238E27FC236}">
                <a16:creationId xmlns:a16="http://schemas.microsoft.com/office/drawing/2014/main" id="{FB62F605-0D29-07F8-F642-DD2626C78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37" y="0"/>
            <a:ext cx="9144837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C22F3F7-C4F6-C120-9D45-79509746A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37" y="0"/>
            <a:ext cx="8563147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9C195-B121-348A-2120-F67B6D686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14" y="762001"/>
            <a:ext cx="7192323" cy="1699942"/>
          </a:xfrm>
        </p:spPr>
        <p:txBody>
          <a:bodyPr>
            <a:normAutofit/>
          </a:bodyPr>
          <a:lstStyle/>
          <a:p>
            <a:r>
              <a:rPr lang="en-US" sz="3500"/>
              <a:t>TECHNOLOGICAL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BEAEE1-46E5-E500-BA85-B32E774BFA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9214" y="2470243"/>
            <a:ext cx="7192761" cy="37698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Streamlit / Flask-based UI for PDF upload and results display.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OCR / Text Extraction: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OCR, EasyOCR, or Google Vision API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Optionally: Document AI models for structured extraction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Used: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Stacked Ensemble (Meta Model)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Integration:</a:t>
            </a:r>
            <a:endParaRPr kumimoji="0" lang="en-US" altLang="en-US" sz="11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Gemini or GPT model for generating personalized medical reports.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numpy, sklearn, PyMuPDF/PDFplumber, pytesseract, xgboost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Local/Cloud — Google Cloud / AWS / Streamlit Cloud</a:t>
            </a:r>
          </a:p>
        </p:txBody>
      </p:sp>
    </p:spTree>
    <p:extLst>
      <p:ext uri="{BB962C8B-B14F-4D97-AF65-F5344CB8AC3E}">
        <p14:creationId xmlns:p14="http://schemas.microsoft.com/office/powerpoint/2010/main" val="3691396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nt">
            <a:extLst>
              <a:ext uri="{FF2B5EF4-FFF2-40B4-BE49-F238E27FC236}">
                <a16:creationId xmlns:a16="http://schemas.microsoft.com/office/drawing/2014/main" id="{FB62F605-0D29-07F8-F642-DD2626C78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37" y="0"/>
            <a:ext cx="9144837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C22F3F7-C4F6-C120-9D45-79509746A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37" y="0"/>
            <a:ext cx="8563147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34512-03B0-4A13-6366-2EA237FF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14" y="762001"/>
            <a:ext cx="7192323" cy="1699942"/>
          </a:xfrm>
        </p:spPr>
        <p:txBody>
          <a:bodyPr>
            <a:normAutofit/>
          </a:bodyPr>
          <a:lstStyle/>
          <a:p>
            <a:r>
              <a:rPr lang="en-US" sz="3500">
                <a:latin typeface="Times New Roman" panose="02020603050405020304" pitchFamily="18" charset="0"/>
                <a:cs typeface="Times New Roman" panose="02020603050405020304" pitchFamily="18" charset="0"/>
              </a:rPr>
              <a:t>PICTURE-TYPE ARCHITECTURE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28FC4-C4B9-2704-C390-3AD72BBD8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214" y="2470243"/>
            <a:ext cx="7192761" cy="376983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700" dirty="0"/>
              <a:t>               ┌──────────────────────┐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    │   User Uploads PDF   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    └──────────┬───────────┘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               ▼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┌────────────────────────────┐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│     OCR / Text Extraction  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│ (Extract Age, BP, ECG, etc.)│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└──────────┬─────────────────┘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           ▼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┌──────────────────────────┐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│ Data Cleaning &amp; Feature  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│       Engineering        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└────────--┬──────────────┘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        ▼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┌──────────────────────────┐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│ Dual-Stage Stacked ML    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│ Base Models → Meta Model 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└────────--┬──────────────┘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        ▼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┌───────────────────────────────┐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│   Final Prediction Score      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└───────────┬──────────────────┘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       ▼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┌──────────────────────────────────────────┐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│ LLM (Gemini) Medical Insight Generator   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│ Explains Risk Factors &amp; Suggestions      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└──────────────────┬───────────────────────┘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            ▼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┌────────────────────────┐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│   User Output Report   │</a:t>
            </a:r>
          </a:p>
          <a:p>
            <a:pPr>
              <a:lnSpc>
                <a:spcPct val="90000"/>
              </a:lnSpc>
            </a:pPr>
            <a:r>
              <a:rPr lang="en-US" sz="700" dirty="0"/>
              <a:t>         └────────────────────────┘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133729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nt">
            <a:extLst>
              <a:ext uri="{FF2B5EF4-FFF2-40B4-BE49-F238E27FC236}">
                <a16:creationId xmlns:a16="http://schemas.microsoft.com/office/drawing/2014/main" id="{FB62F605-0D29-07F8-F642-DD2626C78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37" y="0"/>
            <a:ext cx="9144837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C22F3F7-C4F6-C120-9D45-79509746A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37" y="0"/>
            <a:ext cx="8563147" cy="6858000"/>
          </a:xfrm>
          <a:prstGeom prst="rect">
            <a:avLst/>
          </a:prstGeom>
          <a:ln>
            <a:noFill/>
          </a:ln>
          <a:effectLst>
            <a:outerShdw blurRad="317500" dist="127000" dir="2400000" sx="95000" sy="95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AD4BE-CFF9-0AEB-4E5C-77AB76F7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14" y="762001"/>
            <a:ext cx="7192323" cy="1699942"/>
          </a:xfrm>
        </p:spPr>
        <p:txBody>
          <a:bodyPr>
            <a:normAutofit/>
          </a:bodyPr>
          <a:lstStyle/>
          <a:p>
            <a:r>
              <a:rPr lang="en-US" sz="35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67BE6A-CC0B-E332-00AA-65AA63AD24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9214" y="2470243"/>
            <a:ext cx="7192761" cy="37698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proposed system provides an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automated, accurate, and explainable heart disease risk prediction model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OCR technology eliminates manual entry by extracting data directly from PDF reports.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Dual-stage stacked ML improves prediction accuracy by combining strengths of multiple models.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LLM-powered explanations bridge the gap between complex medical data and user understanding.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solution can support doctors, hospitals, and health monitoring apps by offering early risk detection and personalized recommendations.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3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Future enhancements can include integrating real-time wearable sensor data and more advanced deep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2497401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160</TotalTime>
  <Words>840</Words>
  <Application>Microsoft Office PowerPoint</Application>
  <PresentationFormat>On-screen Show (4:3)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SIDDHARTH INSTITUTE OF ENGINEERING &amp; TECHNOLOGY  (AUTONOMOUS) (Approved by AICTE, New Delhi &amp; Affiliated to JNTUA, Ananthapuramu) (Accredited by NBA for Civil, EEE, Mech., ECE &amp; CSE Accredited by NAAC with ‘A+’ Grade) Puttur -517583,Tirupathi District, A.P. (India) DEPARTMENT OF COMPUTER SCIENCE AND ENGINEERING CSE (ARTIFICIAL INTELLIGENCE AND MACHINE LEARNING Academic Year 2025-26    </vt:lpstr>
      <vt:lpstr>OBJECTIVE</vt:lpstr>
      <vt:lpstr>ABSTRACT</vt:lpstr>
      <vt:lpstr>MODULES</vt:lpstr>
      <vt:lpstr>TECHNOLOGICAL APPROACH</vt:lpstr>
      <vt:lpstr>PICTURE-TYPE ARCHITECTURE DIAGRAM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</dc:title>
  <dc:creator>Chandu</dc:creator>
  <cp:lastModifiedBy>Reddy, Velugu Venkata Chara</cp:lastModifiedBy>
  <cp:revision>28</cp:revision>
  <dcterms:created xsi:type="dcterms:W3CDTF">2006-08-16T00:00:00Z</dcterms:created>
  <dcterms:modified xsi:type="dcterms:W3CDTF">2025-12-04T17:40:33Z</dcterms:modified>
</cp:coreProperties>
</file>